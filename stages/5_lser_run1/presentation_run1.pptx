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43000"/>
            <a:ext cx="106984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QSPR dla adsorpcji zanieczyszczeń organicznych na polipropylenie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2148840"/>
            <a:ext cx="89611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Endpoint: LogKd • modele: MLR, kNN regression, Decision Tree regression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011680" y="3246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5B5"/>
                </a:solidFill>
              </a:rPr>
              <a:t>35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011680" y="3657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związki modelowane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97680" y="3246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48235"/>
                </a:solidFill>
              </a:rPr>
              <a:t>25/10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297680" y="3657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podział TS/VS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75120" y="32461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5A11"/>
                </a:solidFill>
              </a:rPr>
              <a:t>1996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75120" y="3657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deskryptory w Excelu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052560" y="32461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0000"/>
                </a:solidFill>
              </a:rPr>
              <a:t>MLR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05256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model końcowy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80160" y="5166360"/>
            <a:ext cx="9601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Prezentacja krytyczna: nie tylko wysokie R², ale także walidacja zewnętrzna, stabilność i domena stosowalności.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2560" y="653796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QSPR / LogKd adsorpcji na PP • 1/10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 i kontekst projektu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Model QSPR ma przewidywać LogKd adsorpcji na PP dla związków bez pomiarów eksperymentalnych.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32004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praktyczny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37490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dane eksperymentalne LogKd są kosztowne i ograniczone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PP jest hydrofobową powierzchnią sorpcyjną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związki PBT mogą akumulować się na mikroplastiku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09160" y="1234440"/>
            <a:ext cx="3383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Założenie modelowania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9160" y="1600200"/>
            <a:ext cx="32461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0B1F33"/>
                </a:solidFill>
              </a:rPr>
              <a:t>różnice LogKd wynikają z cech struktury chemicznej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0B1F33"/>
                </a:solidFill>
              </a:rPr>
              <a:t>deskryptory reprezentują hydrofobowość, rozmiar i oddziaływania elektronowe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0B1F33"/>
                </a:solidFill>
              </a:rPr>
              <a:t>model ma przewidywać nowe związki tylko w swojej domenie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85800" y="4160520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Decyzja metodologiczna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4526280"/>
            <a:ext cx="46634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nie użyto pełnej wysokowymiarowej macierzy 1996 deskryptorów wprost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wybrano mały zestaw mechanistyczny zgodny z true external validation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VS pozostawiono jako realną walidację zewnętrzną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0" y="1417320"/>
            <a:ext cx="2148840" cy="2148840"/>
          </a:xfrm>
          <a:prstGeom prst="arc">
            <a:avLst/>
          </a:prstGeom>
          <a:noFill/>
          <a:ln w="12700">
            <a:solidFill>
              <a:srgbClr val="2F7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36608" y="1993392"/>
            <a:ext cx="15544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LogKd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9482328" y="2432304"/>
            <a:ext cx="14630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adsorpcja na 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4297680"/>
            <a:ext cx="219456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81812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prediction-ready tylko w 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52560" y="653796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QSPR / LogKd adsorpcji na PP • 2/10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Dane i deskryptory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Excel: 37 rekordów; 35 związków z LogKd + 2 związki EXT bez wartości obserwowanej.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5B5"/>
                </a:solidFill>
              </a:rPr>
              <a:t>25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57400" y="1325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48235"/>
                </a:solidFill>
              </a:rPr>
              <a:t>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57400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VS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0" y="13258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5A1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383280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EXT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Diagnostyka macierzy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200400"/>
            <a:ext cx="38404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1996 kolumn deskryptorów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499 kolumn stałych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199 prawie stałych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56 kolumn z brakami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Wybrany zestaw kandydacki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40233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log D - hydrofobowość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Mw' i V' - rozmiar/objętość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εα, εβ - oddziaływania elektronowe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π - właściwość polaryzacyjna/aromatyczna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Uzasadnienie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4206240"/>
            <a:ext cx="39319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mniej ryzyka przeuczenia przy n=35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pełna kompatybilność z true external validation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łatwiejsza interpretacja OECD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09760" y="1828800"/>
            <a:ext cx="1371600" cy="914400"/>
          </a:xfrm>
          <a:prstGeom prst="chevron">
            <a:avLst/>
          </a:prstGeom>
          <a:solidFill>
            <a:srgbClr val="EAF2F8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2926080"/>
            <a:ext cx="2011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1996 → 6 → 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96112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redukcja wymiarowości bez leakage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052560" y="653796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QSPR / LogKd adsorpcji na PP • 3/10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modelowania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Transformacje i selekcję dopasowano wyłącznie na TS, aby nie zanieczyścić walidacji.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3666744"/>
            <a:ext cx="8229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977640" y="3666744"/>
            <a:ext cx="8229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989320" y="3666744"/>
            <a:ext cx="8229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01000" y="3666744"/>
            <a:ext cx="82296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22960" y="333756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447288"/>
            <a:ext cx="685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diagnostyka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danych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834640" y="333756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98648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154680" y="3447288"/>
            <a:ext cx="685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standaryzacja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TS-only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0" y="333756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EAF2F8"/>
          </a:solidFill>
          <a:ln w="12700">
            <a:solidFill>
              <a:srgbClr val="2F75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66360" y="3447288"/>
            <a:ext cx="685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+ tuning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0" y="333756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FCE4D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22008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78040" y="3447288"/>
            <a:ext cx="685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walidacja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869680" y="3337560"/>
            <a:ext cx="1143000" cy="658368"/>
          </a:xfrm>
          <a:prstGeom prst="roundRect">
            <a:avLst>
              <a:gd name="adj" fmla="val 11111"/>
            </a:avLst>
          </a:prstGeom>
          <a:solidFill>
            <a:srgbClr val="FCE4D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33688" y="3429000"/>
            <a:ext cx="228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89720" y="3447288"/>
            <a:ext cx="6858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+ true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Kluczowy rygor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22960" y="1828800"/>
            <a:ext cx="475488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brak optymalizacji podziału po fakcie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VS nie bierze udziału w selekcji cech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CV służy do strojenia, a nie do raportowania triumfu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6656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Metryki raportowane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766560" y="1828800"/>
            <a:ext cx="40233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TS: R², RMSEC, MAE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CV: Q²CV, RMSECV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VS: Q²Ext/R², RMSEP, MAE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AD: leverage + zakres + dystans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5257800"/>
            <a:ext cx="97840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Wniosek z workflow: wysoka jakość VS jest ważna, ale nie wystarcza bez AD i interpretowalności.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52560" y="653796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QSPR / LogKd adsorpcji na PP • 4/10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Porównanie modeli MLR / kNN / Decision Tree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Najwyższy R² treningowy nie jest kryterium wyboru modelu.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pic>
        <p:nvPicPr>
          <p:cNvPr id="5" name="Image 0" descr="/mnt/data/qspr_project_outputs/model_comparison_err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12064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72200" y="1417320"/>
            <a:ext cx="516636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         R²_TS   Q²CV    Q²Ext   RMSEP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MLR            0.924   0.871   0.969   0.270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            1.000   0.791   0.970   0.266 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Tree  0.989   0.795   0.947   0.356  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172200" y="1673352"/>
            <a:ext cx="516636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0936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Krytyczna obserwacja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09360" y="3611880"/>
            <a:ext cx="48006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kNN ma RMSEC = 0.000 i R²_TS = 1.000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najlepsze VS nie kompensuje ryzyka modelu pamięciowego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MLR ma niemal ten sam RMSEP i jawne równanie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5212080"/>
            <a:ext cx="4297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Decyzja: MLR jako model końcowy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052560" y="653796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QSPR / LogKd adsorpcji na PP • 5/10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Najlepszy model: MLR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Wybrany model łączy predykcyjność z interpretowalnością i kontrolą współliniowości.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25880"/>
            <a:ext cx="106070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LogKd = 4.881 + 1.463·z(logD) - 0.399·z(εβ) + 0.172·z(π)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5B5"/>
                </a:solidFill>
              </a:rPr>
              <a:t>0.871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Q²CV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834640" y="2331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75B5"/>
                </a:solidFill>
              </a:rPr>
              <a:t>0.538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3464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RMSECV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0" y="2331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48235"/>
                </a:solidFill>
              </a:rPr>
              <a:t>0.969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4632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Q²Ext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0" y="2331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48235"/>
                </a:solidFill>
              </a:rPr>
              <a:t>0.270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5800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RMSEP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69680" y="2331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55A11"/>
                </a:solidFill>
              </a:rPr>
              <a:t>0.187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86968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MAE VS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393192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Descriptor  b_std   VIF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D       1.463   1.59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εβ          -0.399  2.61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          0.172   2.33   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4462272"/>
            <a:ext cx="393192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416052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Mechanistyczny sens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0" y="4526280"/>
            <a:ext cx="530352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logD dodatni: hydrofobowość zwiększa sorpcję do PP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π dodatni: oddziaływania dyspersyjne/aromatyczne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εβ ujemny: bardziej polarny/akceptorowy charakter słabiej wspiera hydrofobową sorpcję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52560" y="653796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QSPR / LogKd adsorpcji na PP • 6/10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vs predicted i reszty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Model końcowy nie pokazuje typowego rozdźwięku TS vs VS, ale trzeba pilnować AD.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pic>
        <p:nvPicPr>
          <p:cNvPr id="5" name="Image 0" descr="/mnt/data/qspr_project_outputs/obs_pred_MLR_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70432"/>
            <a:ext cx="3429000" cy="2788920"/>
          </a:xfrm>
          <a:prstGeom prst="rect">
            <a:avLst/>
          </a:prstGeom>
        </p:spPr>
      </p:pic>
      <p:pic>
        <p:nvPicPr>
          <p:cNvPr id="6" name="Image 1" descr="/mnt/data/qspr_project_outputs/obs_pred_MLR_V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70432"/>
            <a:ext cx="3429000" cy="2788920"/>
          </a:xfrm>
          <a:prstGeom prst="rect">
            <a:avLst/>
          </a:prstGeom>
        </p:spPr>
      </p:pic>
      <p:pic>
        <p:nvPicPr>
          <p:cNvPr id="7" name="Image 2" descr="/mnt/data/qspr_project_outputs/residuals_ML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170432"/>
            <a:ext cx="3429000" cy="2788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4434840"/>
            <a:ext cx="22860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Interpretacja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777240" y="4800600"/>
            <a:ext cx="3749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TS dobrze opisany bez idealnego dopasowania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VS leży blisko przekątnej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reszty bez silnego trendu systematycznego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5852160" y="4434840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Ryzyko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5852160" y="4800600"/>
            <a:ext cx="46634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część VS jest strukturalnie bardzo podobna do TS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wysokie Q²Ext nie gwarantuje pracy dla związków polarnych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dlatego true external i AD są krytyczne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9052560" y="653796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QSPR / LogKd adsorpcji na PP • 7/10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Interpretacja OECD i domena stosowalności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Model spełnia podstawowe punkty OECD, ale zakres chemiczny jest wąski.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pic>
        <p:nvPicPr>
          <p:cNvPr id="5" name="Image 0" descr="/mnt/data/qspr_project_outputs/applicability_domain_willia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5212080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1234440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OECD checklist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0" y="1600200"/>
            <a:ext cx="46634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endpoint: LogKd adsorpcji na PP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algorytm: jawna regresja MLR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AD: leverage + zakres + dystans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statystyki: R², Q²CV, RMSECV, Q²Ext, RMSEP, MAE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interpretacja: hydrofobowość i oddziaływania elektronowe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0" y="3977640"/>
            <a:ext cx="3474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Sygnały ostrzegawcze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0" y="4343400"/>
            <a:ext cx="489204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3 izomery HCH w VS są poza zakresem wybranych descriptorów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nitrobenzen jest poza/w strefie ostrzeżenia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0B1F33"/>
                </a:solidFill>
              </a:rPr>
              <a:t>model nie powinien być używany jako uniwersalny QSAR dla całej chemii organicznej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052560" y="653796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QSPR / LogKd adsorpcji na PP • 8/10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external validation: nitrobenzene i naphthalene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Predykcja wykonana tylko dlatego, że najlepszy model używa dostępnych deskryptorów.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64008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Związek       Pred. LogKd  AD               Ocena           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Naphthalene   3.411        inside           wiarygodna w ramach 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1F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Nitrobenzene  1.725        outside/warning  ekstrapolacja / ostrożnie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1673352"/>
            <a:ext cx="640080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37560"/>
            <a:ext cx="2468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 to znaczy?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51206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naftalen jest w pobliżu przestrzeni TS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nitrobenzen jest znacznie bardziej polarny i poza zakresem/odległością AD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dla nitrobenzenu potrzebne byłyby dodatkowe dane albo model obejmujący związki nitroaromatyczne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55448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1764792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Naphthalene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AD: inside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863840" y="306324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FCE4D6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2440" y="3273552"/>
            <a:ext cx="2651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Nitrobenzene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AD: warning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052560" y="653796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QSPR / LogKd adsorpcji na PP • 9/10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Ograniczenia, wnioski i pytania do obrony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Najważniejszy przekaz: model jest użyteczny, ale nie poza swoją chemią.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1115568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34440"/>
            <a:ext cx="31089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Wnioski końcowe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47548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MLR wybrano mimo minimalnie lepszego RMSEP kNN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brak silnych oznak przeuczenia dla MLR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największe ograniczenie: mały i chemicznie wąski zbiór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nitrobenzen wymaga ostrożności poza 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0" y="1234440"/>
            <a:ext cx="32918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Potencjalne pytania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0" y="1600200"/>
            <a:ext cx="502920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Dlaczego nie kNN z najlepszym RMSEP?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Czy model jest przeuczony?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Czy deskryptory mają sens fizykochemiczny?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Czy nitrobenzen i naftalen mieszczą się w AD?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B1F33"/>
                </a:solidFill>
              </a:rPr>
              <a:t>Co rozszerzyłoby model?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4663440"/>
            <a:ext cx="95097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Najkrótsza odpowiedź obronna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97280" y="5349240"/>
            <a:ext cx="9784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F75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MLR jest świadomym kompromisem: trochę mniej efektowny niż kNN, ale stabilny, jawny, interpretowalny i zgodny z zasadami OECD.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052560" y="653796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QSPR / LogKd adsorpcji na PP • 10/10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PG -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QSPR: LogKd adsorpcji na PP</dc:title>
  <dc:subject>QSPR LogKd adsorption on PP</dc:subject>
  <dc:creator/>
  <cp:lastModifiedBy/>
  <cp:revision>1</cp:revision>
  <dcterms:created xsi:type="dcterms:W3CDTF">2026-06-04T10:36:44Z</dcterms:created>
  <dcterms:modified xsi:type="dcterms:W3CDTF">2026-06-04T10:36:44Z</dcterms:modified>
</cp:coreProperties>
</file>