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Celem prezentacji jest pokazanie finalnego modelu QSPR dla LogKda oraz obrona wyboru MLR względem KNN i SVR.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Należy od razu używać nazwy QSPR, bo endpointem jest właściwość fizykochemiczna LogKda.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Podział TS/VS wynosi 25/10, czyli około 71/29%, zgodnie z instrukcją. Dla EXT przyjęto dane z pliku True external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Kluczowa obrona: nie wybrałem losowo 1999 deskryptorów, bo dla true external nie ma tych wartości i byłoby to metodologicznie ryzykowne.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LogD jest najważniejszy, bo PP jest hydrofobowy. εβ dodaje informację o polarności i oddziaływaniach, które nie zawsze sprzyjają sorpcji na 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SVR ma świetne Q² LOO, ale na zbiorze VS nie przebija MLR. KNN ma wysokie R² treningowe, ale odległościowy model z wagami distance łatwo interpoluje trening.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slajdzie warto powiedzieć, że predicted vs observed ocenia zarówno trend, jak i odchylenia od linii y=x.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slajd do obrony: pokazuje, że model nie jest oceniany wyłącznie metrykami, ale też rozkładem błędów.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Pokazać, że EXT nie jest poza domeną. To wzmacnia wiarygodność predykcji, chociaż nie usuwa błędów modelu.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Warto uczciwie powiedzieć: naftalen jest bardzo dobrze przewidziany, nitrobenzen nie. To nie obala modelu, ale wskazuje ograniczenie domeny mechanistycznej.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główny slajd argumentacyjny. Najważniejsze jest powiedzieć, że QSAR/QSPR wymaga nie tylko dobrego R², lecz modelu walidowanego i interpretowalnego.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Zamknąć prezentację uczciwym wnioskiem: model jest użyteczny, ale nie absolutny; jego ograniczenia są jawnie zidentyfikowane.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QSPR do przewidywania LogKda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430"/>
                </a:solidFill>
              </a:rPr>
              <a:t>Adsorpcja zanieczyszczeń organicznych na powierzchni polipropylenu (PP)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450592"/>
            <a:ext cx="512064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852928"/>
            <a:ext cx="53949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430"/>
                </a:solidFill>
              </a:rPr>
              <a:t>Model końcowy: MLR {logD, εβ}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430"/>
                </a:solidFill>
              </a:rPr>
              <a:t>Modele porównawcze: KNN i SVR</a:t>
            </a:r>
            <a:endParaRPr lang="en-US" sz="1800" dirty="0"/>
          </a:p>
        </p:txBody>
      </p:sp>
      <p:pic>
        <p:nvPicPr>
          <p:cNvPr id="6" name="Image 0" descr="/mnt/data/qspr_presentation_assets/model_comparison_q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415" y="2395728"/>
            <a:ext cx="492797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199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0"/>
                </a:solidFill>
              </a:rPr>
              <a:t>Modelowanie QSAR/QSPR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 i kontekst projektu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51663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00" dirty="0">
                <a:solidFill>
                  <a:srgbClr val="1C2430"/>
                </a:solidFill>
              </a:rPr>
              <a:t>PP może sorbować hydrofobowe zanieczyszczenia organiczne.</a:t>
            </a:r>
            <a:endParaRPr lang="en-US" sz="1500" dirty="0"/>
          </a:p>
          <a:p>
            <a:r>
              <a:rPr lang="en-US" sz="1500" dirty="0">
                <a:solidFill>
                  <a:srgbClr val="1C2430"/>
                </a:solidFill>
              </a:rPr>
              <a:t>Eksperymentalne LogKda są kosztowne i dostępne dla ograniczonej liczby związków.</a:t>
            </a:r>
            <a:endParaRPr lang="en-US" sz="1500" dirty="0"/>
          </a:p>
          <a:p>
            <a:r>
              <a:rPr lang="en-US" sz="1500" dirty="0">
                <a:solidFill>
                  <a:srgbClr val="1C2430"/>
                </a:solidFill>
              </a:rPr>
              <a:t>QSPR pozwala przewidywać LogKda na podstawie deskryptorów struktury.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</a:rPr>
              <a:t>Odpowiedź modelu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133088"/>
            <a:ext cx="51206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</a:rPr>
              <a:t>EXP LogKda — miara adsorpcji związku na PP. Wyższa wartość oznacza silniejszą przewidywaną adsorpcję.</a:t>
            </a:r>
            <a:endParaRPr lang="en-US" sz="1500" dirty="0"/>
          </a:p>
        </p:txBody>
      </p:sp>
      <p:pic>
        <p:nvPicPr>
          <p:cNvPr id="10" name="Image 0" descr="/mnt/data/qspr_presentation_assets/descriptor_domain_ml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11028"/>
            <a:ext cx="5349240" cy="36873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5080" y="548640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5B6570"/>
                </a:solidFill>
              </a:rPr>
              <a:t>Formalnie jest to QSPR, bo modelowana jest właściwość fizykochemiczna, nie aktywność biologiczna.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Dane wejściowe i podział zbioru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3</a:t>
            </a:r>
            <a:endParaRPr lang="en-US" sz="850" dirty="0"/>
          </a:p>
        </p:txBody>
      </p:sp>
      <p:pic>
        <p:nvPicPr>
          <p:cNvPr id="6" name="Image 0" descr="/mnt/data/qspr_presentation_assets/data_split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053" y="987552"/>
            <a:ext cx="4603573" cy="1508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07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</a:rPr>
              <a:t>Deskryptory dostępne dla true external validation</a:t>
            </a:r>
            <a:endParaRPr lang="en-US" sz="1600" dirty="0"/>
          </a:p>
        </p:txBody>
      </p:sp>
      <p:pic>
        <p:nvPicPr>
          <p:cNvPr id="8" name="Image 1" descr="/mnt/data/qspr_presentation_assets/ext_descriptors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57" y="3310128"/>
            <a:ext cx="4577806" cy="1097280"/>
          </a:xfrm>
          <a:prstGeom prst="rect">
            <a:avLst/>
          </a:prstGeom>
        </p:spPr>
      </p:pic>
      <p:pic>
        <p:nvPicPr>
          <p:cNvPr id="9" name="Image 2" descr="/mnt/data/qspr_presentation_assets/descriptor_domain_ml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15688"/>
            <a:ext cx="4937760" cy="34036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4652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30" i="1" dirty="0">
                <a:solidFill>
                  <a:srgbClr val="5B6570"/>
                </a:solidFill>
              </a:rPr>
              <a:t>Użyto wartości EXT z pliku True external validation, nie wartości EXT z arkusza Excel.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Strategia doboru deskryptorów dla KNN i SVR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106984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50" dirty="0">
                <a:solidFill>
                  <a:srgbClr val="1C2430"/>
                </a:solidFill>
              </a:rPr>
              <a:t>Deskryptory dla KNN/SVR ograniczono do zmiennych dostępnych również dla naftalenu i nitrobenzenu.</a:t>
            </a:r>
            <a:endParaRPr lang="en-US" sz="1450" dirty="0"/>
          </a:p>
          <a:p>
            <a:r>
              <a:rPr lang="en-US" sz="1450" dirty="0">
                <a:solidFill>
                  <a:srgbClr val="1C2430"/>
                </a:solidFill>
              </a:rPr>
              <a:t>Dobór wykonano na TS przez LOO-CV; VS i EXT traktowano jako testy predykcji.</a:t>
            </a:r>
            <a:endParaRPr lang="en-US" sz="1450" dirty="0"/>
          </a:p>
          <a:p>
            <a:r>
              <a:rPr lang="en-US" sz="1450" dirty="0">
                <a:solidFill>
                  <a:srgbClr val="1C2430"/>
                </a:solidFill>
              </a:rPr>
              <a:t>Unikano dużych zestawów deskryptorów, bo nTS = 25 i ryzyko przeuczenia jest wysokie.</a:t>
            </a:r>
            <a:endParaRPr lang="en-US" sz="1450" dirty="0"/>
          </a:p>
        </p:txBody>
      </p:sp>
      <p:pic>
        <p:nvPicPr>
          <p:cNvPr id="7" name="Image 0" descr="/mnt/data/qspr_presentation_assets/model_selectio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139" y="2423160"/>
            <a:ext cx="9744962" cy="2103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956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Wniosek metodologiczny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330952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</a:rPr>
              <a:t>KNN i SVR są modelami porównawczymi. Ich celem jest sprawdzenie, czy model nieliniowy daje przewagę nad prostym, interpretowalnym MLR.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końcowy MLR: równanie i sens chemiczny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1247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</a:rPr>
              <a:t>LogKda = 6.378 + 0.734·logD − 17.853·εβ</a:t>
            </a:r>
            <a:endParaRPr lang="en-US" sz="2400" dirty="0"/>
          </a:p>
        </p:txBody>
      </p:sp>
      <p:pic>
        <p:nvPicPr>
          <p:cNvPr id="7" name="Image 0" descr="/mnt/data/qspr_presentation_assets/mlr_descriptor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849" y="1901952"/>
            <a:ext cx="4789741" cy="1325880"/>
          </a:xfrm>
          <a:prstGeom prst="rect">
            <a:avLst/>
          </a:prstGeom>
        </p:spPr>
      </p:pic>
      <p:pic>
        <p:nvPicPr>
          <p:cNvPr id="8" name="Image 1" descr="/mnt/data/qspr_presentation_assets/mlr_standardized_coeffici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591" y="1737360"/>
            <a:ext cx="4281859" cy="2468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Kontrola współliniowości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9808" y="4078224"/>
            <a:ext cx="5486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</a:rPr>
              <a:t>r(logD, εβ) = 0.358; VIF ≈ 1.15. Deskryptory nie są redundantne, więc MLR jest stabilny interpretacyjnie.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49808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</a:rPr>
              <a:t>To jest główny argument za MLR: model wyjaśnia zjawisko, a nie tylko dopasowuje liczby.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Porównanie jakości modeli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6</a:t>
            </a:r>
            <a:endParaRPr lang="en-US" sz="850" dirty="0"/>
          </a:p>
        </p:txBody>
      </p:sp>
      <p:pic>
        <p:nvPicPr>
          <p:cNvPr id="6" name="Image 0" descr="/mnt/data/qspr_presentation_assets/metric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8279" y="960120"/>
            <a:ext cx="8404963" cy="1417320"/>
          </a:xfrm>
          <a:prstGeom prst="rect">
            <a:avLst/>
          </a:prstGeom>
        </p:spPr>
      </p:pic>
      <p:pic>
        <p:nvPicPr>
          <p:cNvPr id="7" name="Image 1" descr="/mnt/data/qspr_presentation_assets/model_comparison_rm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82438"/>
            <a:ext cx="5257800" cy="3121923"/>
          </a:xfrm>
          <a:prstGeom prst="rect">
            <a:avLst/>
          </a:prstGeom>
        </p:spPr>
      </p:pic>
      <p:pic>
        <p:nvPicPr>
          <p:cNvPr id="8" name="Image 2" descr="/mnt/data/qspr_presentation_assets/model_comparison_q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782438"/>
            <a:ext cx="5257800" cy="31219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580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B5C"/>
                </a:solidFill>
              </a:rPr>
              <a:t>MLR ma najniższy RMSEP na VS i bardzo dobrą stabilność LOO-CV przy najmniejszej złożoności.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Predicted vs observed: trzy modele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7</a:t>
            </a:r>
            <a:endParaRPr lang="en-US" sz="850" dirty="0"/>
          </a:p>
        </p:txBody>
      </p:sp>
      <p:pic>
        <p:nvPicPr>
          <p:cNvPr id="6" name="Image 0" descr="/mnt/data/qspr_presentation_assets/pred_obs_ml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04824"/>
            <a:ext cx="3657600" cy="3653993"/>
          </a:xfrm>
          <a:prstGeom prst="rect">
            <a:avLst/>
          </a:prstGeom>
        </p:spPr>
      </p:pic>
      <p:pic>
        <p:nvPicPr>
          <p:cNvPr id="7" name="Image 1" descr="/mnt/data/qspr_presentation_assets/pred_obs_k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03020"/>
            <a:ext cx="3657600" cy="3657600"/>
          </a:xfrm>
          <a:prstGeom prst="rect">
            <a:avLst/>
          </a:prstGeom>
        </p:spPr>
      </p:pic>
      <p:pic>
        <p:nvPicPr>
          <p:cNvPr id="8" name="Image 2" descr="/mnt/data/qspr_presentation_assets/pred_obs_sv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1303020"/>
            <a:ext cx="3657600" cy="3657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5559552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</a:rPr>
              <a:t>Wszystkie modele odtwarzają trend, ale MLR zachowuje najlepszą równowagę między predykcją VS i możliwością interpretacji.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Diagnostyka modelu MLR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8</a:t>
            </a:r>
            <a:endParaRPr lang="en-US" sz="850" dirty="0"/>
          </a:p>
        </p:txBody>
      </p:sp>
      <p:pic>
        <p:nvPicPr>
          <p:cNvPr id="6" name="Image 0" descr="/mnt/data/qspr_presentation_assets/mlr_pred_obs_labe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711" y="1051560"/>
            <a:ext cx="5019379" cy="3886200"/>
          </a:xfrm>
          <a:prstGeom prst="rect">
            <a:avLst/>
          </a:prstGeom>
        </p:spPr>
      </p:pic>
      <p:pic>
        <p:nvPicPr>
          <p:cNvPr id="7" name="Image 1" descr="/mnt/data/qspr_presentation_assets/mlr_residu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2191"/>
            <a:ext cx="4983480" cy="32905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4617720"/>
            <a:ext cx="4937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C2430"/>
                </a:solidFill>
              </a:rPr>
              <a:t>Reszty nie pokazują silnego trendu systematycznego, ale model ma ograniczenie dla związków, których adsorpcji nie wyjaśnia sama hydrofobowość i εβ.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49808" y="5376672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70"/>
                </a:solidFill>
              </a:rPr>
              <a:t>Największa reszta: Trimethoprim, lecz bez przekroczenia typowego progu ±3 w Williams plot.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Dziedzina stosowalności modelu końcowego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9</a:t>
            </a:r>
            <a:endParaRPr lang="en-US" sz="850" dirty="0"/>
          </a:p>
        </p:txBody>
      </p:sp>
      <p:pic>
        <p:nvPicPr>
          <p:cNvPr id="6" name="Image 0" descr="/mnt/data/qspr_presentation_assets/williams_ml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16961"/>
            <a:ext cx="5669280" cy="3747422"/>
          </a:xfrm>
          <a:prstGeom prst="rect">
            <a:avLst/>
          </a:prstGeom>
        </p:spPr>
      </p:pic>
      <p:pic>
        <p:nvPicPr>
          <p:cNvPr id="7" name="Image 1" descr="/mnt/data/qspr_presentation_assets/descriptor_domain_ml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4635"/>
            <a:ext cx="4846320" cy="33406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5321808"/>
            <a:ext cx="106070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80" dirty="0">
                <a:solidFill>
                  <a:srgbClr val="1C2430"/>
                </a:solidFill>
              </a:rPr>
              <a:t>h* = 0.36; oba związki EXT mają leverage poniżej progu.</a:t>
            </a:r>
            <a:endParaRPr lang="en-US" sz="1280" dirty="0"/>
          </a:p>
          <a:p>
            <a:r>
              <a:rPr lang="en-US" sz="1280" dirty="0">
                <a:solidFill>
                  <a:srgbClr val="1C2430"/>
                </a:solidFill>
              </a:rPr>
              <a:t>Naftalen i nitrobenzen mieszczą się w zakresie logD oraz εβ zbioru uczącego.</a:t>
            </a:r>
            <a:endParaRPr lang="en-US" sz="1280" dirty="0"/>
          </a:p>
          <a:p>
            <a:r>
              <a:rPr lang="en-US" sz="1280" dirty="0">
                <a:solidFill>
                  <a:srgbClr val="1C2430"/>
                </a:solidFill>
              </a:rPr>
              <a:t>Domena dotyczy podobnych związków organicznych; modelu nie należy ekstrapolować poza tę przestrzeń.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True external validation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10</a:t>
            </a:r>
            <a:endParaRPr lang="en-US" sz="850" dirty="0"/>
          </a:p>
        </p:txBody>
      </p:sp>
      <p:pic>
        <p:nvPicPr>
          <p:cNvPr id="6" name="Image 0" descr="/mnt/data/qspr_presentation_assets/true_external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40394"/>
            <a:ext cx="5257800" cy="2969036"/>
          </a:xfrm>
          <a:prstGeom prst="rect">
            <a:avLst/>
          </a:prstGeom>
        </p:spPr>
      </p:pic>
      <p:pic>
        <p:nvPicPr>
          <p:cNvPr id="7" name="Image 1" descr="/mnt/data/qspr_presentation_assets/external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024" y="1143000"/>
            <a:ext cx="5229032" cy="1325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Interpretacja MLR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263640" y="3246120"/>
            <a:ext cx="512064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80" dirty="0">
                <a:solidFill>
                  <a:srgbClr val="1C2430"/>
                </a:solidFill>
              </a:rPr>
              <a:t>Naftalen: bardzo dobra zgodność z wartością referencyjną.</a:t>
            </a:r>
            <a:endParaRPr lang="en-US" sz="1280" dirty="0"/>
          </a:p>
          <a:p>
            <a:r>
              <a:rPr lang="en-US" sz="1280" dirty="0">
                <a:solidFill>
                  <a:srgbClr val="1C2430"/>
                </a:solidFill>
              </a:rPr>
              <a:t>Nitrobenzen: wyraźne niedoszacowanie — ograniczenie modelu dla bardziej polarnego nitroaromatu.</a:t>
            </a:r>
            <a:endParaRPr lang="en-US" sz="1280" dirty="0"/>
          </a:p>
          <a:p>
            <a:r>
              <a:rPr lang="en-US" sz="1280" dirty="0">
                <a:solidFill>
                  <a:srgbClr val="1C2430"/>
                </a:solidFill>
              </a:rPr>
              <a:t>EXT potwierdza użyteczność modelu, ale nie pełną uniwersalność.</a:t>
            </a:r>
            <a:endParaRPr lang="en-US" sz="1280" dirty="0"/>
          </a:p>
        </p:txBody>
      </p:sp>
      <p:sp>
        <p:nvSpPr>
          <p:cNvPr id="10" name="Text 6"/>
          <p:cNvSpPr/>
          <p:nvPr/>
        </p:nvSpPr>
        <p:spPr>
          <a:xfrm>
            <a:off x="804672" y="4800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0"/>
                </a:solidFill>
              </a:rPr>
              <a:t>AE = |LogKda_pred − LogKda_ref|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Dlaczego MLR pozostaje modelem końcowym?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548640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00" dirty="0">
                <a:solidFill>
                  <a:srgbClr val="1C2430"/>
                </a:solidFill>
              </a:rPr>
              <a:t>Najniższy błąd predykcji zewnętrznej: RMSEP = 0.217 dla VS.</a:t>
            </a:r>
            <a:endParaRPr lang="en-US" sz="1500" dirty="0"/>
          </a:p>
          <a:p>
            <a:r>
              <a:rPr lang="en-US" sz="1500" dirty="0">
                <a:solidFill>
                  <a:srgbClr val="1C2430"/>
                </a:solidFill>
              </a:rPr>
              <a:t>Tylko dwa deskryptory i brak istotnej współliniowości.</a:t>
            </a:r>
            <a:endParaRPr lang="en-US" sz="1500" dirty="0"/>
          </a:p>
          <a:p>
            <a:r>
              <a:rPr lang="en-US" sz="1500" dirty="0">
                <a:solidFill>
                  <a:srgbClr val="1C2430"/>
                </a:solidFill>
              </a:rPr>
              <a:t>Zgodny z zasadami QSAR/QSPR: jawne równanie, interpretowalność, walidacja, dziedzina stosowalności.</a:t>
            </a:r>
            <a:endParaRPr lang="en-US" sz="1500" dirty="0"/>
          </a:p>
          <a:p>
            <a:r>
              <a:rPr lang="en-US" sz="1500" dirty="0">
                <a:solidFill>
                  <a:srgbClr val="1C2430"/>
                </a:solidFill>
              </a:rPr>
              <a:t>KNN i SVR są konkurencyjne statystycznie, ale są mniej transparentne i bardziej wrażliwe na dobór hiperparametrów.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241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</a:rPr>
              <a:t>Model końcowy nie został wybrany dlatego, że ma najwyższe R². Został wybrany dlatego, że ma najlepszy kompromis: predykcja + prostota + sens chemiczny.</a:t>
            </a:r>
            <a:endParaRPr lang="en-US" sz="1700" dirty="0"/>
          </a:p>
        </p:txBody>
      </p:sp>
      <p:pic>
        <p:nvPicPr>
          <p:cNvPr id="8" name="Image 0" descr="/mnt/data/qspr_presentation_assets/model_comparison_r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75815"/>
            <a:ext cx="4663440" cy="27690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Wnioski i ograniczenia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5568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QSPR LogKda · adsorpcja na PP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570"/>
                </a:solidFill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49808" y="1097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</a:rPr>
              <a:t>Wnioski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1508760"/>
            <a:ext cx="51663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20" dirty="0">
                <a:solidFill>
                  <a:srgbClr val="1C2430"/>
                </a:solidFill>
              </a:rPr>
              <a:t>Najlepszym modelem końcowym jest MLR {logD, εβ}.</a:t>
            </a:r>
            <a:endParaRPr lang="en-US" sz="1420" dirty="0"/>
          </a:p>
          <a:p>
            <a:r>
              <a:rPr lang="en-US" sz="1420" dirty="0">
                <a:solidFill>
                  <a:srgbClr val="1C2430"/>
                </a:solidFill>
              </a:rPr>
              <a:t>KNN i SVR potwierdzają, że logD jest dominującym czynnikiem adsorpcji.</a:t>
            </a:r>
            <a:endParaRPr lang="en-US" sz="1420" dirty="0"/>
          </a:p>
          <a:p>
            <a:r>
              <a:rPr lang="en-US" sz="1420" dirty="0">
                <a:solidFill>
                  <a:srgbClr val="1C2430"/>
                </a:solidFill>
              </a:rPr>
              <a:t>True external validation jest dobra dla naftalenu, ale słabsza dla nitrobenzenu.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644652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</a:rPr>
              <a:t>Ograniczenia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49834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20" dirty="0">
                <a:solidFill>
                  <a:srgbClr val="1C2430"/>
                </a:solidFill>
              </a:rPr>
              <a:t>Mały zbiór danych: TS = 25, VS = 10.</a:t>
            </a:r>
            <a:endParaRPr lang="en-US" sz="1420" dirty="0"/>
          </a:p>
          <a:p>
            <a:r>
              <a:rPr lang="en-US" sz="1420" dirty="0">
                <a:solidFill>
                  <a:srgbClr val="1C2430"/>
                </a:solidFill>
              </a:rPr>
              <a:t>Model z dwoma deskryptorami nie opisuje wszystkich mechanizmów adsorpcji.</a:t>
            </a:r>
            <a:endParaRPr lang="en-US" sz="1420" dirty="0"/>
          </a:p>
          <a:p>
            <a:r>
              <a:rPr lang="en-US" sz="1420" dirty="0">
                <a:solidFill>
                  <a:srgbClr val="1C2430"/>
                </a:solidFill>
              </a:rPr>
              <a:t>Nitrobenzen pokazuje ryzyko błędu dla bardziej polarnych struktur.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5C"/>
                </a:solidFill>
              </a:rPr>
              <a:t>Gotowa obrona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069080"/>
            <a:ext cx="106070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</a:rPr>
              <a:t>„Wybrałem MLR, bo w małym zbiorze QSPR prosty model z chemicznie uzasadnionymi deskryptorami jest bezpieczniejszy niż bardziej elastyczny model nieliniowy. KNN i SVR są użyteczne porównawczo, ale nie dają lepszego kompromisu między predykcją i interpretowalnością.”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</a:rPr>
              <a:t>Źródła danych: data_qsar_pls_extended.xlsx; True external validation.pdf; instrukcje projektu i wytyczne do prezentacji.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Gdańsk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QSPR do przewidywania LogKda</dc:title>
  <dc:subject>QSPR LogKda model presentation</dc:subject>
  <dc:creator/>
  <cp:lastModifiedBy/>
  <cp:revision>1</cp:revision>
  <dcterms:created xsi:type="dcterms:W3CDTF">2026-06-10T22:06:14Z</dcterms:created>
  <dcterms:modified xsi:type="dcterms:W3CDTF">2026-06-10T22:06:14Z</dcterms:modified>
</cp:coreProperties>
</file>