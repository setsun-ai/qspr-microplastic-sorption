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72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334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502920" cy="502920"/>
          </a:xfrm>
          <a:prstGeom prst="ellipse">
            <a:avLst/>
          </a:prstGeom>
          <a:solidFill>
            <a:srgbClr val="0E7C7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2377440" y="1828800"/>
            <a:ext cx="502920" cy="502920"/>
          </a:xfrm>
          <a:prstGeom prst="ellipse">
            <a:avLst/>
          </a:prstGeom>
          <a:solidFill>
            <a:srgbClr val="57C5B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1371600" y="2926080"/>
            <a:ext cx="502920" cy="502920"/>
          </a:xfrm>
          <a:prstGeom prst="ellipse">
            <a:avLst/>
          </a:prstGeom>
          <a:solidFill>
            <a:srgbClr val="F2A65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2926080" y="3566160"/>
            <a:ext cx="502920" cy="502920"/>
          </a:xfrm>
          <a:prstGeom prst="ellipse">
            <a:avLst/>
          </a:prstGeom>
          <a:solidFill>
            <a:srgbClr val="0E7C7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57C5B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572000" y="1143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MODELOWANIE QSAR / QSPR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QSPR przewidujący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adsorpcję zanieczyszczeń organicznych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polipropylenie (PP)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5720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Współczynnik </a:t>
            </a:r>
            <a:r>
              <a:rPr lang="en-US" sz="1600" i="1" dirty="0" err="1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LogKda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5943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I KONTEKST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 co przewidywać adsorpcję na mikroplastiku?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 </a:t>
            </a: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Mikroplastiki adsorbują na powierzchni zanieczyszczenia organiczne i </a:t>
            </a:r>
            <a:r>
              <a:rPr lang="en-US" sz="16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przenoszą</a:t>
            </a: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je, działając jak ich nośnik.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przewidujemy. </a:t>
            </a:r>
            <a:r>
              <a:rPr lang="en-US" sz="16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LogKda</a:t>
            </a: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pl-PL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r>
              <a:rPr lang="en-US" sz="16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iara</a:t>
            </a: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powinowactwa związku do polipropylenu.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modelowania QSPR. </a:t>
            </a: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Przewidzieć LogKda na podstawie obliczeniowych deskryptorów struktury — bez żmudnych pomiarów dla każdego związku osobno.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EAF3F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1323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badawcze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„Czy ze struktury związku można wiarygodnie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przewidzieć, jak silnie zaadsorbuje się on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polipropylenie?”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78040" y="35204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178040" y="350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związku  </a:t>
            </a:r>
            <a:r>
              <a:rPr lang="en-US" sz="13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deskryptory LSER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78040" y="43434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7178040" y="43087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QSPR  </a:t>
            </a:r>
            <a:r>
              <a:rPr lang="en-US" sz="13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liniowa zależność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78040" y="516636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178040" y="51316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0" y="5166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 LogKda  </a:t>
            </a:r>
            <a:r>
              <a:rPr lang="en-US" sz="13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dla nowych związków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I KONTROLA JAKOŚCI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Dane: 35 związków, 6 deskryptorów LSER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3F3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0B2B3C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764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Związki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organiczne, LogKda 0,59–7,0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3F3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0B2B3C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401568" y="1764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01568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Deskryptory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624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1998 dostępnych (LSER)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3F3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0B2B3C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163056" y="1764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~1990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63056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Odrzucono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2624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deskryptorów PaDEL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33104" y="16002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AF3F3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0B2B3C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8924544" y="17647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70:30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24544" y="23500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Podział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24544" y="2624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uczący 24 / testowy 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tylko 6 deskryptorów?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n = 35 obiektach użycie ~1990 deskryptorów PaDEL daje p ≫ n →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gwarantowane przeuczenie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Wybrano 6 chemicznie umotywowanych deskryptorów </a:t>
            </a:r>
            <a:r>
              <a:rPr lang="en-US" sz="14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typu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LSER: </a:t>
            </a:r>
            <a:r>
              <a:rPr lang="en-US" sz="1400" i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D, M′w, εα, εβ, V′, π.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5303520" cy="1828800"/>
          </a:xfrm>
          <a:prstGeom prst="roundRect">
            <a:avLst>
              <a:gd name="adj" fmla="val 2712"/>
            </a:avLst>
          </a:prstGeom>
          <a:solidFill>
            <a:srgbClr val="FCEFE6"/>
          </a:solidFill>
          <a:ln w="1905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23" name="Text 21"/>
          <p:cNvSpPr/>
          <p:nvPr/>
        </p:nvSpPr>
        <p:spPr>
          <a:xfrm>
            <a:off x="6537960" y="3931919"/>
            <a:ext cx="4846320" cy="120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pl-PL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Podział uczący/testowy wykonano metodą </a:t>
            </a:r>
            <a:r>
              <a:rPr lang="pl-PL" sz="1400" b="1" dirty="0" err="1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Kennarda</a:t>
            </a:r>
            <a:r>
              <a:rPr lang="pl-PL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pl-PL" sz="1400" b="1" dirty="0" err="1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Stone’a</a:t>
            </a:r>
            <a:r>
              <a:rPr lang="pl-PL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pl-PL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pl-PL" sz="1400" b="1" dirty="0">
              <a:solidFill>
                <a:srgbClr val="B5651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pl-PL" sz="1400" dirty="0"/>
              <a:t>Metoda </a:t>
            </a:r>
            <a:r>
              <a:rPr lang="pl-PL" sz="1400" dirty="0" err="1"/>
              <a:t>Kennarda</a:t>
            </a:r>
            <a:r>
              <a:rPr lang="pl-PL" sz="1400" dirty="0"/>
              <a:t>–</a:t>
            </a:r>
            <a:r>
              <a:rPr lang="pl-PL" sz="1400" dirty="0" err="1"/>
              <a:t>Stone'a</a:t>
            </a:r>
            <a:r>
              <a:rPr lang="pl-PL" sz="1400" dirty="0"/>
              <a:t> wybiera związki do zbioru uczącego tak, aby jak najlepiej reprezentowały </a:t>
            </a:r>
            <a:r>
              <a:rPr lang="pl-PL" sz="1400" b="1" dirty="0"/>
              <a:t>całą różnorodność chemiczną </a:t>
            </a:r>
            <a:r>
              <a:rPr lang="pl-PL" sz="1400" dirty="0"/>
              <a:t>danych, dzięki czemu ocena modelu jest bardziej wiarygodna niż przy losowym podziale.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3794760"/>
            <a:ext cx="4892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DANYCH I SELEKCJA DESKRYPTORÓW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i wybór </a:t>
            </a:r>
            <a:r>
              <a:rPr lang="en-US" sz="3000" b="1" dirty="0" err="1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pary</a:t>
            </a: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{log D, εβ}</a:t>
            </a:r>
            <a:endParaRPr lang="en-US" sz="3000" dirty="0"/>
          </a:p>
        </p:txBody>
      </p:sp>
      <p:pic>
        <p:nvPicPr>
          <p:cNvPr id="4" name="Image 0" descr="img/fig4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1205020" cy="32634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7610" y="4769069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Rys. Macierz korelacji oraz zależności log D–LogKda i εβ–LogKda. Dominacja log D i dwuskupieniowa struktura danych.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87610" y="5271989"/>
            <a:ext cx="11025293" cy="1199598"/>
          </a:xfrm>
          <a:prstGeom prst="roundRect">
            <a:avLst>
              <a:gd name="adj" fmla="val 2532"/>
            </a:avLst>
          </a:prstGeom>
          <a:solidFill>
            <a:srgbClr val="EAF3F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8" name="Text 5"/>
          <p:cNvSpPr/>
          <p:nvPr/>
        </p:nvSpPr>
        <p:spPr>
          <a:xfrm>
            <a:off x="1390774" y="5431566"/>
            <a:ext cx="2250295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 dominuje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najsilniejszy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predyktor</a:t>
            </a:r>
            <a:br>
              <a:rPr lang="pl-PL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= +0,88)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35579BF-A6E8-B196-44DD-4042212EDD4F}"/>
              </a:ext>
            </a:extLst>
          </p:cNvPr>
          <p:cNvSpPr txBox="1"/>
          <p:nvPr/>
        </p:nvSpPr>
        <p:spPr>
          <a:xfrm>
            <a:off x="4889353" y="5366581"/>
            <a:ext cx="3378550" cy="130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εα to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predyktor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pozorny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korelacja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wynika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z 2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farmaceutyków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 w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skupieniu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hydrofob</a:t>
            </a: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owym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spada</a:t>
            </a:r>
            <a:br>
              <a:rPr lang="pl-PL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 −0,15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odrzucony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pl-PL" sz="2000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CF4D55E-B3A7-5E4D-9860-519BA12A9E2F}"/>
              </a:ext>
            </a:extLst>
          </p:cNvPr>
          <p:cNvSpPr txBox="1"/>
          <p:nvPr/>
        </p:nvSpPr>
        <p:spPr>
          <a:xfrm>
            <a:off x="8818997" y="5392830"/>
            <a:ext cx="2843223" cy="1078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C7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Wybór: {log D, εβ}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VIF ≈ 1,03 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niemal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ortogonalne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dwa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nieskorelowane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mechanizmy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pl-PL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Metodyka — rzetelna walidacja bez przecieku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Podział danych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23360" y="16916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70:30</a:t>
            </a:r>
            <a:r>
              <a:rPr lang="pl-PL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uczący</a:t>
            </a: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n=24, testowy n=11. Dodatkowo podział systematyczny i 200 powtórzonych podziałów losowych.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82296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Standaryzacja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23360" y="27706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skalowania liczone wyłącznie na zbiorze uczącym i przenoszone na testowy — bez przecieku informacji.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82296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84962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i strojenie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23360" y="384962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Dobór deskryptorów i hiperparametrów tylko na danych treningowych (LOO-CV), nigdy na zbiorze walidacyjnym.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82296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777240" y="49286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23360" y="492861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(regresja wieloraka) · k-NN (k strojone) · drzewo decyzyjne CART. Ta sama para {log D, εβ}.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MODELI QSPR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Porównanie modeli — pojedynczy podział myli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03504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(TS)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Q² (CV)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Q²ext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</a:rPr>
                        <a:t>MLR {log D, εβ}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0,956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0,917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0,737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0,398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MLR {+π}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0,958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0,911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0,748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0,389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k-NN (k=1)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0,995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0,933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0,787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0,358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Drzewo decyzyjne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0,974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0,889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0,801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B33"/>
                          </a:solidFill>
                        </a:rPr>
                        <a:t>0,346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jednym podziale modele wyglądają podobnie — to złudne. Zbiór testowy obejmował tylko LogKda 4,5–6,1 (czysta interpolacja).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R²=0,995 dla k-NN to zapamiętywanie danych (k=1), nie predykcja.</a:t>
            </a:r>
            <a:endParaRPr lang="en-US" sz="1350" dirty="0"/>
          </a:p>
        </p:txBody>
      </p:sp>
      <p:pic>
        <p:nvPicPr>
          <p:cNvPr id="6" name="Image 0" descr="img/fig1_obs_pred_res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011680"/>
            <a:ext cx="5029200" cy="2066544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676656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Rys. MLR: wartości obserwowane vs przewidywane (TS — kółka, VS — kwadraty) oraz reszty.</a:t>
            </a:r>
            <a:endParaRPr lang="en-US" sz="1050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814A3E47-DDC4-9BD5-38ED-BA526C825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531" y="5089109"/>
            <a:ext cx="8160937" cy="1507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DECYDUJĄCY DOWÓD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Stabilność na 200 losowych podziałach</a:t>
            </a:r>
            <a:endParaRPr lang="en-US" sz="3000" dirty="0"/>
          </a:p>
        </p:txBody>
      </p:sp>
      <p:pic>
        <p:nvPicPr>
          <p:cNvPr id="4" name="Image 0" descr="img/fig3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2636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737360"/>
            <a:ext cx="4526280" cy="4160520"/>
          </a:xfrm>
          <a:prstGeom prst="roundRect">
            <a:avLst>
              <a:gd name="adj" fmla="val 2198"/>
            </a:avLst>
          </a:prstGeom>
          <a:solidFill>
            <a:srgbClr val="0E33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736092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Q²ext na 200 podziałach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6092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{log D, εβ}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7C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0,909 ± 0,035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6092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0,78 · 0% &lt; 0,5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(k=3)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6092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0,730 ± 0,147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6092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0,10 · szeroki rozrzut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decyzyjne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6092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0,797 ± 0,213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60920" y="4873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−0,50 · wartości ujemne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jest ~4–6× bardziej stabilny i nigdy nie zawodzi.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DIAGNOSTYKA K-NN I DRZEWA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Dlaczego modele nieliniowe zawodzą</a:t>
            </a:r>
            <a:endParaRPr lang="en-US" sz="3000" dirty="0"/>
          </a:p>
        </p:txBody>
      </p:sp>
      <p:pic>
        <p:nvPicPr>
          <p:cNvPr id="4" name="Image 0" descr="img/fig5_knn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867" y="1492364"/>
            <a:ext cx="8882066" cy="3424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5641" y="4797919"/>
            <a:ext cx="780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Rys. Dobór k w k-NN (LOO-CV) — optimum przy k=1 (zapamiętywanie). </a:t>
            </a:r>
            <a:r>
              <a:rPr lang="pl-PL" sz="10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  </a:t>
            </a:r>
            <a:r>
              <a:rPr lang="en-US" sz="10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Ważność cech w drzewie — dominacja log D.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423339"/>
            <a:ext cx="11025293" cy="1199598"/>
          </a:xfrm>
          <a:prstGeom prst="roundRect">
            <a:avLst>
              <a:gd name="adj" fmla="val 2299"/>
            </a:avLst>
          </a:prstGeom>
          <a:solidFill>
            <a:srgbClr val="EAF3F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7" name="Text 4"/>
          <p:cNvSpPr/>
          <p:nvPr/>
        </p:nvSpPr>
        <p:spPr>
          <a:xfrm>
            <a:off x="688954" y="5599912"/>
            <a:ext cx="3520440" cy="8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Krzywa LOO-CV maleje monotonicznie: k=1 → 0,933, k=10 → 0,334. Najlepszy dopiero przy czystym zapamiętywaniu — brak generalizacji.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D2BB64C-A8F5-16E8-99B5-E579C1E1267C}"/>
              </a:ext>
            </a:extLst>
          </p:cNvPr>
          <p:cNvSpPr/>
          <p:nvPr/>
        </p:nvSpPr>
        <p:spPr>
          <a:xfrm>
            <a:off x="4371223" y="5586118"/>
            <a:ext cx="3520440" cy="8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05000"/>
              </a:lnSpc>
              <a:defRPr/>
            </a:pPr>
            <a:r>
              <a:rPr lang="en-US" sz="12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Wspólna</a:t>
            </a: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</a:t>
            </a:r>
            <a:endParaRPr lang="en-US" sz="1250" dirty="0">
              <a:solidFill>
                <a:prstClr val="black"/>
              </a:solidFill>
            </a:endParaRPr>
          </a:p>
          <a:p>
            <a:pPr lvl="0">
              <a:lnSpc>
                <a:spcPct val="105000"/>
              </a:lnSpc>
              <a:defRPr/>
            </a:pP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zwracają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zakresu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treningowego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potrafią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ekstrapolować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nowych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związków</a:t>
            </a:r>
            <a:r>
              <a:rPr lang="en-US" sz="125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>
              <a:solidFill>
                <a:prstClr val="black"/>
              </a:solidFill>
            </a:endParaRPr>
          </a:p>
          <a:p>
            <a:pPr lvl="0">
              <a:lnSpc>
                <a:spcPct val="105000"/>
              </a:lnSpc>
              <a:defRPr/>
            </a:pPr>
            <a:endParaRPr lang="en-US" sz="1250" dirty="0">
              <a:solidFill>
                <a:prstClr val="black"/>
              </a:solidFill>
            </a:endParaRPr>
          </a:p>
          <a:p>
            <a:endParaRPr lang="pl-PL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2676A83-0863-2825-6AB6-6EFE2E264A00}"/>
              </a:ext>
            </a:extLst>
          </p:cNvPr>
          <p:cNvSpPr/>
          <p:nvPr/>
        </p:nvSpPr>
        <p:spPr>
          <a:xfrm>
            <a:off x="8053493" y="5586118"/>
            <a:ext cx="3520440" cy="8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 err="1">
                <a:ln>
                  <a:noFill/>
                </a:ln>
                <a:solidFill>
                  <a:srgbClr val="0B2B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Drzewo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B2B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250" b="1" i="0" u="none" strike="noStrike" kern="1200" cap="none" spc="0" normalizeH="0" baseline="0" noProof="0" dirty="0" err="1">
                <a:ln>
                  <a:noFill/>
                </a:ln>
                <a:solidFill>
                  <a:srgbClr val="0B2B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decyzyjne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Ważność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log D = 0,969 vs εβ = 0,031.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Predykcje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skokowe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oparte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progach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E72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NAJLEPSZEGO MODELU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Najwyższe R² ≠ najlepszy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D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Wybrany model:  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MLR {log D, εβ}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Gdyby liczyło się samo R², wygrałby k-NN (R²=0,994) — najmniej rzetelny predyktor.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0358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Najstabilniejsza predykcja  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Najwyższy i najwęższy Q²ext na 200 podziałach — bez ani jednej porażki.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84048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8130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Najmniejsze przeuczenie  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R²fit 0,939 vs Q²LOO 0,913 — minimalna luka. Dla k-NN: 0,994 vs 0,918.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61772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943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590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interpretowalność  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Jawne równanie z mechanistycznie poprawnymi znakami współczynników.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39496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59436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675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Zdolność do ekstrapolacji  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k-NN i drzewo zwracają tylko wartości treningowe — dyskwalifikujące dla nowych związków.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EAF3F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53796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dopasowanie → predykcja (miara przeuczenia)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63840" y="2679192"/>
            <a:ext cx="3474720" cy="256032"/>
          </a:xfrm>
          <a:prstGeom prst="rect">
            <a:avLst/>
          </a:prstGeom>
          <a:solidFill>
            <a:srgbClr val="D9E6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7863840" y="2679192"/>
            <a:ext cx="1003808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6537960" y="29900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R²fit 0,939 → Q² 0,913   (Δ 0,026)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63840" y="3730752"/>
            <a:ext cx="3474720" cy="256032"/>
          </a:xfrm>
          <a:prstGeom prst="rect">
            <a:avLst/>
          </a:prstGeom>
          <a:solidFill>
            <a:srgbClr val="D9E6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7863840" y="3730752"/>
            <a:ext cx="2934208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53796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R²fit 0,994 → Q² 0,918   (Δ 0,076)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63840" y="4782312"/>
            <a:ext cx="3474720" cy="256032"/>
          </a:xfrm>
          <a:prstGeom prst="rect">
            <a:avLst/>
          </a:prstGeom>
          <a:solidFill>
            <a:srgbClr val="D9E6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7863840" y="4782312"/>
            <a:ext cx="343611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537960" y="5093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R²fit 0,974 → Q² 0,885   (Δ 0,089)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5715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krótszy pasek, tym mniejsze przeuczenie. MLR </a:t>
            </a:r>
            <a:r>
              <a:rPr lang="en-US" sz="1150" i="1" dirty="0" err="1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wygrywa</a:t>
            </a:r>
            <a:r>
              <a:rPr lang="en-US" sz="1150" i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pl-PL" sz="1150" i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RÓWNANIE I MECHANIZM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Równanie modelu i interpretacja OECD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0B2B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LogKda = 6,735 + 0,751·log D − 19,32·εβ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321040" y="1783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0,939  ·  R²adj = 0,935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Q²cv = 0,913  ·  F = 244,2  ·  n = 35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E7F4ED"/>
          </a:solidFill>
          <a:ln w="1524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log D  (lipofilowość)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39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Współczynnik standaryzowany +1,446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Wzrost hydrofobowości zwiększa adsorpcję na niepolarnej powierzchni PP — oddziaływania hydrofobowe oraz π–π </a:t>
            </a:r>
            <a:r>
              <a:rPr lang="en-US" sz="14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pl-PL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związków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aromatycznych. To czynnik dominujący (~2,3× silniejszy).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FCEFE6"/>
          </a:solidFill>
          <a:ln w="1524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4652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εβ  (zasadowość wiązania H)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639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Współczynnik standaryzowany −0,630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40690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Zdolność do przyjmowania wiązania wodorowego sprzyja pozostawaniu związku w fazie wodnej, co obniża adsorpcję. Oba znaki są mechanistycznie poprawne i zgodne z literaturą.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MODELU — ZASADY OECD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Domena stosowalności (OECD)</a:t>
            </a:r>
            <a:endParaRPr lang="en-US" sz="3000" dirty="0"/>
          </a:p>
        </p:txBody>
      </p:sp>
      <p:pic>
        <p:nvPicPr>
          <p:cNvPr id="4" name="Image 0" descr="img/fig2_willi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60350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8704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Rys. Wykres Williamsa. Próg dźwigni h* = 0,257; granice ±3 reszty std.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720840" y="1645920"/>
            <a:ext cx="4937760" cy="4251960"/>
          </a:xfrm>
          <a:prstGeom prst="roundRect">
            <a:avLst>
              <a:gd name="adj" fmla="val 2151"/>
            </a:avLst>
          </a:prstGeom>
          <a:solidFill>
            <a:srgbClr val="EAF3F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9494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zasady OECD — spełnione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49440" y="22402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endParaRPr lang="pl-PL" sz="1400" b="1" dirty="0">
              <a:solidFill>
                <a:srgbClr val="0B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b="1" dirty="0" err="1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Zdefiniowany</a:t>
            </a: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punkt końcowy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pl-PL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40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LogKda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PP, jednoznaczny algorytm (MLR)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 dopasowania i stabilność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pl-PL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0,939, Q²cv 0,913, stabilny na 200 podziałach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Zdefiniowana domena stosowalności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pl-PL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40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wykres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Williamsa; sulfadiazyna i trimetoprim wpływowe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b="1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Interpretacja mechanistyczna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pl-PL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400" dirty="0" err="1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hydrofobowość</a:t>
            </a:r>
            <a:r>
              <a:rPr lang="en-US" sz="1400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zasadowość H — fizycznie poprawna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RZECZYWISTA WALIDACJA ZEWNĘTRZNA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external validation: naftalen i nitrobenzen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E7F4ED"/>
          </a:solidFill>
          <a:ln w="1651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Naftalen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LogKda ≈ </a:t>
            </a:r>
            <a:r>
              <a:rPr lang="en-US" sz="2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Wewnątrz domeny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 = 0,083; najbliższy: </a:t>
            </a:r>
            <a:r>
              <a:rPr lang="en-US" sz="14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fenantren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CEFE6"/>
          </a:solidFill>
          <a:ln w="16510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44652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Nitrobenzen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LogKda ≈ </a:t>
            </a:r>
            <a:r>
              <a:rPr lang="en-US" sz="2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 graniczna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 = 0,153). Leży w luce log D 1–4,2, brak nitroaromatów w </a:t>
            </a:r>
            <a:r>
              <a:rPr lang="en-US" sz="1400" dirty="0" err="1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zbiorze</a:t>
            </a:r>
            <a:r>
              <a:rPr lang="en-US" sz="14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nieliniowe zawodzą w luce danych: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75560"/>
              </p:ext>
            </p:extLst>
          </p:nvPr>
        </p:nvGraphicFramePr>
        <p:xfrm>
          <a:off x="548640" y="4617720"/>
          <a:ext cx="11064240" cy="1371600"/>
        </p:xfrm>
        <a:graphic>
          <a:graphicData uri="http://schemas.openxmlformats.org/drawingml/2006/table">
            <a:tbl>
              <a:tblPr/>
              <a:tblGrid>
                <a:gridCol w="2876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5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Związek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MLR (wybrany)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k-NN (k=1)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Drzewo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B3C"/>
                          </a:solidFill>
                        </a:rPr>
                        <a:t>Naftalen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</a:rPr>
                        <a:t>3,50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B33"/>
                          </a:solidFill>
                        </a:rPr>
                        <a:t>4,00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B33"/>
                          </a:solidFill>
                        </a:rPr>
                        <a:t>2,38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B3C"/>
                          </a:solidFill>
                        </a:rPr>
                        <a:t>Nitrobenzen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</a:rPr>
                        <a:t>1,81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0,59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0,72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2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i drzewo „przyciągają” nitrobenzen do wartości farmaceutyku (0,59) — błędnie. To uzasadnia wybór modelu liniowego.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34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Wnioski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6711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 model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0" y="16459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MLR: LogKda = 6,735 + 0,751·log D − 19,32·εβ (R² 0,939; Q²cv 0,913). Wybrany za stabilność, brak przeuczenia i interpretowalność — nie za najwyższe R².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457200" cy="4572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94360" y="279837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nieliniowe odrzucone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i drzewo mają podobne dopasowanie, lecz są niestabilne i niezdolne do ekstrapolacji — dyskwalifikujące dla nowych związków.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0" y="39319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Sorpcja zdominowana przez hydrofobowość (sprzyja), z udziałem zasadowości H (</a:t>
            </a:r>
            <a:r>
              <a:rPr lang="en-US" sz="1600" dirty="0" err="1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przeciwdziała</a:t>
            </a:r>
            <a:r>
              <a:rPr lang="en-US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pl-PL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5120640"/>
            <a:ext cx="457200" cy="4572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zewnętrzna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0" y="50749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Naftalen (3,5) — wiarygodny, wewnątrz domeny. Nitrobenzen (1,8) — graniczny, luka w </a:t>
            </a:r>
            <a:r>
              <a:rPr lang="en-US" sz="1600" dirty="0" err="1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</a:t>
            </a:r>
            <a:r>
              <a:rPr lang="en-US" sz="1600" dirty="0">
                <a:solidFill>
                  <a:srgbClr val="E3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Ograniczenia: mały zbiór (n=35), dwuskupieniowa struktura, luka log D 1–4,2, </a:t>
            </a:r>
            <a:r>
              <a:rPr lang="en-US" sz="1100" i="1" dirty="0" err="1">
                <a:solidFill>
                  <a:srgbClr val="8F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</a:t>
            </a:r>
            <a:r>
              <a:rPr lang="en-US" sz="1100" i="1" dirty="0">
                <a:solidFill>
                  <a:srgbClr val="8F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8F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nitroaromatów</a:t>
            </a:r>
            <a:r>
              <a:rPr lang="en-US" sz="1100" i="1" dirty="0">
                <a:solidFill>
                  <a:srgbClr val="8FB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1283</Words>
  <Application>Microsoft Office PowerPoint</Application>
  <PresentationFormat>Panoramiczny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QSPR — LogKda adsorpcji na PP</dc:title>
  <dc:subject>PptxGenJS Presentation</dc:subject>
  <dc:creator/>
  <cp:lastModifiedBy/>
  <cp:revision>3</cp:revision>
  <dcterms:created xsi:type="dcterms:W3CDTF">2026-06-10T19:04:50Z</dcterms:created>
  <dcterms:modified xsi:type="dcterms:W3CDTF">2026-06-10T23:18:25Z</dcterms:modified>
</cp:coreProperties>
</file>